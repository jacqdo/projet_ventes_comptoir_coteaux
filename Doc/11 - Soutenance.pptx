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4C597A-DFF5-4E08-ABA3-57318D2898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362F3F-3F53-44BC-98C1-BCFEECDAFC0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094886-6C65-45C2-8FA2-233ACB6E535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148394-525E-42DF-970E-F84BBE012E3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2292D7-BD86-4069-A63D-E1A259EE115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8B6CDB-702F-4DCC-AC67-0253B239EF6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D417C9-BF92-48C6-9DAA-274AB0CE9A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43E034-6FD4-4E88-8F13-28935643B3F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6F3258-23C6-4ADE-8A7A-67297CD516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7215DB-D7FF-4F7D-899B-5471891A39A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67D064-54AD-4928-A5AD-432361F5F50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E4EEB9-36DC-4B3F-AFDB-F60B4DD3FC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D25330-20D9-48B9-A144-EA247EF1294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8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914400" y="1051560"/>
            <a:ext cx="10058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daa63d"/>
                </a:solidFill>
                <a:effectLst/>
                <a:uFillTx/>
                <a:latin typeface="Calibri"/>
              </a:rPr>
              <a:t>PROJET DATA ENGINEERING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Ventes Coteaux</a:t>
            </a:r>
            <a:endParaRPr b="0" lang="fr-FR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914400" y="3063240"/>
            <a:ext cx="10058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Automatisation du pipeline ETL et du reporting mensuel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cddceb"/>
                </a:solidFill>
                <a:effectLst/>
                <a:uFillTx/>
                <a:latin typeface="Calibri"/>
              </a:rPr>
              <a:t>Python • Docker • Kestra • Excel / CSV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914400" y="521208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Soutenance — 2026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502920" y="29268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82d48"/>
                </a:solidFill>
                <a:effectLst/>
                <a:uFillTx/>
                <a:latin typeface="Calibri"/>
              </a:rPr>
              <a:t>1. Contexte et objectifs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731520" y="1417320"/>
            <a:ext cx="1069812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Centraliser et fiabiliser les données nécessaires au suivi des ventes.</a:t>
            </a:r>
            <a:endParaRPr b="0" lang="fr-F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Construire une chaîne ETL reproductible : extraction → transformation → reporting.</a:t>
            </a:r>
            <a:endParaRPr b="0" lang="fr-F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Automatiser l’exécution avec Kestra afin de limiter les traitements manuels.</a:t>
            </a:r>
            <a:endParaRPr b="0" lang="fr-F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Produire des livrables exploitables : rapport de chiffre d’affaires et listes de vins.</a:t>
            </a:r>
            <a:endParaRPr b="0" lang="fr-F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4"/>
          <p:cNvSpPr/>
          <p:nvPr/>
        </p:nvSpPr>
        <p:spPr>
          <a:xfrm>
            <a:off x="8046720" y="4754880"/>
            <a:ext cx="2834280" cy="914040"/>
          </a:xfrm>
          <a:prstGeom prst="roundRect">
            <a:avLst>
              <a:gd name="adj" fmla="val 16667"/>
            </a:avLst>
          </a:prstGeom>
          <a:solidFill>
            <a:srgbClr val="e8f2fc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OBJECTIF</a:t>
            </a:r>
            <a:br>
              <a:rPr sz="1500"/>
            </a:b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Reporting automatisé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5"/>
          <p:cNvSpPr/>
          <p:nvPr/>
        </p:nvSpPr>
        <p:spPr>
          <a:xfrm>
            <a:off x="502920" y="6510600"/>
            <a:ext cx="11155320" cy="18000"/>
          </a:xfrm>
          <a:prstGeom prst="rect">
            <a:avLst/>
          </a:prstGeom>
          <a:solidFill>
            <a:srgbClr val="dce4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10881360" y="655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502920" y="29268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82d48"/>
                </a:solidFill>
                <a:effectLst/>
                <a:uFillTx/>
                <a:latin typeface="Calibri"/>
              </a:rPr>
              <a:t>2. Architecture globale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530280" y="868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Une chaîne simple, reproductible et orchestrée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4"/>
          <p:cNvSpPr/>
          <p:nvPr/>
        </p:nvSpPr>
        <p:spPr>
          <a:xfrm>
            <a:off x="594360" y="1965960"/>
            <a:ext cx="205704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SOURCES</a:t>
            </a:r>
            <a:br>
              <a:rPr sz="1400"/>
            </a:b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ERP / Liaison / Web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5"/>
          <p:cNvSpPr/>
          <p:nvPr/>
        </p:nvSpPr>
        <p:spPr>
          <a:xfrm>
            <a:off x="3017520" y="1965960"/>
            <a:ext cx="205704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391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EXTRACTION</a:t>
            </a:r>
            <a:br>
              <a:rPr sz="1400"/>
            </a:b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Python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6"/>
          <p:cNvSpPr/>
          <p:nvPr/>
        </p:nvSpPr>
        <p:spPr>
          <a:xfrm>
            <a:off x="5440680" y="1965960"/>
            <a:ext cx="205704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daa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TRANSFORMATION</a:t>
            </a:r>
            <a:br>
              <a:rPr sz="1400"/>
            </a:b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Python / Pandas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7"/>
          <p:cNvSpPr/>
          <p:nvPr/>
        </p:nvSpPr>
        <p:spPr>
          <a:xfrm>
            <a:off x="7863840" y="1965960"/>
            <a:ext cx="205704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REPORTING</a:t>
            </a:r>
            <a:br>
              <a:rPr sz="1400"/>
            </a:b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XLSX / CSV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Connector 8"/>
          <p:cNvCxnSpPr/>
          <p:nvPr/>
        </p:nvCxnSpPr>
        <p:spPr>
          <a:xfrm>
            <a:off x="2651760" y="2541960"/>
            <a:ext cx="36612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cxnSp>
        <p:nvCxnSpPr>
          <p:cNvPr id="87" name="Connector 9"/>
          <p:cNvCxnSpPr/>
          <p:nvPr/>
        </p:nvCxnSpPr>
        <p:spPr>
          <a:xfrm>
            <a:off x="5074920" y="2541960"/>
            <a:ext cx="36612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cxnSp>
        <p:nvCxnSpPr>
          <p:cNvPr id="88" name="Connector 10"/>
          <p:cNvCxnSpPr/>
          <p:nvPr/>
        </p:nvCxnSpPr>
        <p:spPr>
          <a:xfrm>
            <a:off x="7497720" y="2541960"/>
            <a:ext cx="36648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89" name="Rounded Rectangle 11"/>
          <p:cNvSpPr/>
          <p:nvPr/>
        </p:nvSpPr>
        <p:spPr>
          <a:xfrm>
            <a:off x="4160520" y="3886200"/>
            <a:ext cx="3017160" cy="1051200"/>
          </a:xfrm>
          <a:prstGeom prst="roundRect">
            <a:avLst>
              <a:gd name="adj" fmla="val 16667"/>
            </a:avLst>
          </a:prstGeom>
          <a:solidFill>
            <a:srgbClr val="eef4f9"/>
          </a:solidFill>
          <a:ln w="19050">
            <a:solidFill>
              <a:srgbClr val="182d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ORCHESTRATION</a:t>
            </a:r>
            <a:br>
              <a:rPr sz="1500"/>
            </a:b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Kestra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nector 12"/>
          <p:cNvCxnSpPr/>
          <p:nvPr/>
        </p:nvCxnSpPr>
        <p:spPr>
          <a:xfrm flipV="1">
            <a:off x="5669280" y="3108960"/>
            <a:ext cx="360" cy="777600"/>
          </a:xfrm>
          <a:prstGeom prst="straightConnector1">
            <a:avLst/>
          </a:prstGeom>
          <a:ln>
            <a:solidFill>
              <a:srgbClr val="182d48"/>
            </a:solidFill>
            <a:round/>
          </a:ln>
        </p:spPr>
      </p:cxnSp>
      <p:sp>
        <p:nvSpPr>
          <p:cNvPr id="91" name="Rectangle 13"/>
          <p:cNvSpPr/>
          <p:nvPr/>
        </p:nvSpPr>
        <p:spPr>
          <a:xfrm>
            <a:off x="502920" y="6510600"/>
            <a:ext cx="11155320" cy="18000"/>
          </a:xfrm>
          <a:prstGeom prst="rect">
            <a:avLst/>
          </a:prstGeom>
          <a:solidFill>
            <a:srgbClr val="dce4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10881360" y="655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3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502920" y="29268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82d48"/>
                </a:solidFill>
                <a:effectLst/>
                <a:uFillTx/>
                <a:latin typeface="Calibri"/>
              </a:rPr>
              <a:t>3. Flux des données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530280" y="868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De la donnée brute au livrable final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502920" y="1920240"/>
            <a:ext cx="1572480" cy="10969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01</a:t>
            </a:r>
            <a:br>
              <a:rPr sz="1400"/>
            </a:b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EXTRACT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Connector 5"/>
          <p:cNvCxnSpPr/>
          <p:nvPr/>
        </p:nvCxnSpPr>
        <p:spPr>
          <a:xfrm>
            <a:off x="2075400" y="2468880"/>
            <a:ext cx="32976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98" name="Rounded Rectangle 6"/>
          <p:cNvSpPr/>
          <p:nvPr/>
        </p:nvSpPr>
        <p:spPr>
          <a:xfrm>
            <a:off x="2404800" y="1920240"/>
            <a:ext cx="1572480" cy="10969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391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02</a:t>
            </a:r>
            <a:br>
              <a:rPr sz="1400"/>
            </a:b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CLEAN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Connector 7"/>
          <p:cNvCxnSpPr/>
          <p:nvPr/>
        </p:nvCxnSpPr>
        <p:spPr>
          <a:xfrm>
            <a:off x="3977280" y="2468880"/>
            <a:ext cx="32976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100" name="Rounded Rectangle 8"/>
          <p:cNvSpPr/>
          <p:nvPr/>
        </p:nvSpPr>
        <p:spPr>
          <a:xfrm>
            <a:off x="4306680" y="1920240"/>
            <a:ext cx="1572480" cy="10969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daa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03</a:t>
            </a:r>
            <a:br>
              <a:rPr sz="1400"/>
            </a:b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JOIN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Connector 9"/>
          <p:cNvCxnSpPr/>
          <p:nvPr/>
        </p:nvCxnSpPr>
        <p:spPr>
          <a:xfrm>
            <a:off x="5879520" y="2468880"/>
            <a:ext cx="32940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102" name="Rounded Rectangle 10"/>
          <p:cNvSpPr/>
          <p:nvPr/>
        </p:nvSpPr>
        <p:spPr>
          <a:xfrm>
            <a:off x="6208920" y="1920240"/>
            <a:ext cx="1572480" cy="10969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04</a:t>
            </a:r>
            <a:br>
              <a:rPr sz="1400"/>
            </a:b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CALCUL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Connector 11"/>
          <p:cNvCxnSpPr/>
          <p:nvPr/>
        </p:nvCxnSpPr>
        <p:spPr>
          <a:xfrm>
            <a:off x="7781400" y="2468880"/>
            <a:ext cx="32940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104" name="Rounded Rectangle 12"/>
          <p:cNvSpPr/>
          <p:nvPr/>
        </p:nvSpPr>
        <p:spPr>
          <a:xfrm>
            <a:off x="8110800" y="1920240"/>
            <a:ext cx="1572480" cy="10969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391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05</a:t>
            </a:r>
            <a:br>
              <a:rPr sz="1400"/>
            </a:b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CLASSIFY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Connector 13"/>
          <p:cNvCxnSpPr/>
          <p:nvPr/>
        </p:nvCxnSpPr>
        <p:spPr>
          <a:xfrm>
            <a:off x="9683280" y="2468880"/>
            <a:ext cx="32976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106" name="Rounded Rectangle 14"/>
          <p:cNvSpPr/>
          <p:nvPr/>
        </p:nvSpPr>
        <p:spPr>
          <a:xfrm>
            <a:off x="10012680" y="1920240"/>
            <a:ext cx="1572480" cy="10969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182d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06</a:t>
            </a:r>
            <a:br>
              <a:rPr sz="1400"/>
            </a:b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EXPORT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5"/>
          <p:cNvSpPr/>
          <p:nvPr/>
        </p:nvSpPr>
        <p:spPr>
          <a:xfrm>
            <a:off x="502920" y="6510600"/>
            <a:ext cx="11155320" cy="18000"/>
          </a:xfrm>
          <a:prstGeom prst="rect">
            <a:avLst/>
          </a:prstGeom>
          <a:solidFill>
            <a:srgbClr val="dce4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10881360" y="655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4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502920" y="29268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82d48"/>
                </a:solidFill>
                <a:effectLst/>
                <a:uFillTx/>
                <a:latin typeface="Calibri"/>
              </a:rPr>
              <a:t>4. Données et modélisation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3"/>
          <p:cNvSpPr/>
          <p:nvPr/>
        </p:nvSpPr>
        <p:spPr>
          <a:xfrm>
            <a:off x="640080" y="1600200"/>
            <a:ext cx="2834280" cy="1188360"/>
          </a:xfrm>
          <a:prstGeom prst="roundRect">
            <a:avLst>
              <a:gd name="adj" fmla="val 16667"/>
            </a:avLst>
          </a:prstGeom>
          <a:solidFill>
            <a:srgbClr val="ebf3fb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ERP</a:t>
            </a:r>
            <a:br>
              <a:rPr sz="1500"/>
            </a:b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Produits • prix • stock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640080" y="3703320"/>
            <a:ext cx="2834280" cy="1188360"/>
          </a:xfrm>
          <a:prstGeom prst="roundRect">
            <a:avLst>
              <a:gd name="adj" fmla="val 16667"/>
            </a:avLst>
          </a:prstGeom>
          <a:solidFill>
            <a:srgbClr val="ebf7f3"/>
          </a:solidFill>
          <a:ln w="19050">
            <a:solidFill>
              <a:srgbClr val="2391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LIAISON</a:t>
            </a:r>
            <a:br>
              <a:rPr sz="1500"/>
            </a:b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Correspondances produit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5"/>
          <p:cNvSpPr/>
          <p:nvPr/>
        </p:nvSpPr>
        <p:spPr>
          <a:xfrm>
            <a:off x="4617720" y="2468880"/>
            <a:ext cx="2834280" cy="1188360"/>
          </a:xfrm>
          <a:prstGeom prst="roundRect">
            <a:avLst>
              <a:gd name="adj" fmla="val 16667"/>
            </a:avLst>
          </a:prstGeom>
          <a:solidFill>
            <a:srgbClr val="f9f3e4"/>
          </a:solidFill>
          <a:ln w="19050">
            <a:solidFill>
              <a:srgbClr val="daa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TABLE DE TRAVAIL</a:t>
            </a:r>
            <a:br>
              <a:rPr sz="1500"/>
            </a:b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DataFrame nettoyé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6"/>
          <p:cNvSpPr/>
          <p:nvPr/>
        </p:nvSpPr>
        <p:spPr>
          <a:xfrm>
            <a:off x="8503920" y="160020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f2edf9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REPORTING</a:t>
            </a:r>
            <a:br>
              <a:rPr sz="1500"/>
            </a:b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CA par produit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7"/>
          <p:cNvSpPr/>
          <p:nvPr/>
        </p:nvSpPr>
        <p:spPr>
          <a:xfrm>
            <a:off x="8503920" y="370332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f2f7f1"/>
          </a:solidFill>
          <a:ln w="19050">
            <a:solidFill>
              <a:srgbClr val="3d915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CLASSIFICATION</a:t>
            </a:r>
            <a:br>
              <a:rPr sz="1500"/>
            </a:br>
            <a:r>
              <a:rPr b="1" lang="en-US" sz="15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Premium / ordinaire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Connector 8"/>
          <p:cNvCxnSpPr/>
          <p:nvPr/>
        </p:nvCxnSpPr>
        <p:spPr>
          <a:xfrm>
            <a:off x="3474720" y="2194560"/>
            <a:ext cx="1143360" cy="6861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cxnSp>
        <p:nvCxnSpPr>
          <p:cNvPr id="117" name="Connector 9"/>
          <p:cNvCxnSpPr/>
          <p:nvPr/>
        </p:nvCxnSpPr>
        <p:spPr>
          <a:xfrm flipV="1">
            <a:off x="3474720" y="3246120"/>
            <a:ext cx="1143360" cy="105192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cxnSp>
        <p:nvCxnSpPr>
          <p:cNvPr id="118" name="Connector 10"/>
          <p:cNvCxnSpPr/>
          <p:nvPr/>
        </p:nvCxnSpPr>
        <p:spPr>
          <a:xfrm flipV="1">
            <a:off x="7452360" y="2194560"/>
            <a:ext cx="1051920" cy="6861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cxnSp>
        <p:nvCxnSpPr>
          <p:cNvPr id="119" name="Connector 11"/>
          <p:cNvCxnSpPr/>
          <p:nvPr/>
        </p:nvCxnSpPr>
        <p:spPr>
          <a:xfrm>
            <a:off x="7452360" y="3246120"/>
            <a:ext cx="1051920" cy="105192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120" name="Rectangle 12"/>
          <p:cNvSpPr/>
          <p:nvPr/>
        </p:nvSpPr>
        <p:spPr>
          <a:xfrm>
            <a:off x="502920" y="6510600"/>
            <a:ext cx="11155320" cy="18000"/>
          </a:xfrm>
          <a:prstGeom prst="rect">
            <a:avLst/>
          </a:prstGeom>
          <a:solidFill>
            <a:srgbClr val="dce4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3"/>
          <p:cNvSpPr/>
          <p:nvPr/>
        </p:nvSpPr>
        <p:spPr>
          <a:xfrm>
            <a:off x="10881360" y="655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5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502920" y="29268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82d48"/>
                </a:solidFill>
                <a:effectLst/>
                <a:uFillTx/>
                <a:latin typeface="Calibri"/>
              </a:rPr>
              <a:t>5. Transformation et règles métier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731520" y="1234440"/>
            <a:ext cx="1069812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Lecture des fichiers sources et contrôle de la structure des colonnes.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Nettoyage et normalisation des valeurs et des identifiants.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Rapprochement des produits entre les différentes sources.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Calcul des indicateurs commerciaux : prix, quantité et chiffre d’affaires.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Classification des vins selon les critères métier définis.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Export de données propres pour le reporting.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4"/>
          <p:cNvSpPr/>
          <p:nvPr/>
        </p:nvSpPr>
        <p:spPr>
          <a:xfrm>
            <a:off x="502920" y="6510600"/>
            <a:ext cx="11155320" cy="18000"/>
          </a:xfrm>
          <a:prstGeom prst="rect">
            <a:avLst/>
          </a:prstGeom>
          <a:solidFill>
            <a:srgbClr val="dce4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10881360" y="655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6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502920" y="29268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82d48"/>
                </a:solidFill>
                <a:effectLst/>
                <a:uFillTx/>
                <a:latin typeface="Calibri"/>
              </a:rPr>
              <a:t>6. Orchestration avec Kestra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530280" y="868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Workflow automatisé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4"/>
          <p:cNvSpPr/>
          <p:nvPr/>
        </p:nvSpPr>
        <p:spPr>
          <a:xfrm>
            <a:off x="640080" y="2057400"/>
            <a:ext cx="1554120" cy="1005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182d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START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Connector 5"/>
          <p:cNvCxnSpPr/>
          <p:nvPr/>
        </p:nvCxnSpPr>
        <p:spPr>
          <a:xfrm>
            <a:off x="2194560" y="2560320"/>
            <a:ext cx="54900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132" name="Rounded Rectangle 6"/>
          <p:cNvSpPr/>
          <p:nvPr/>
        </p:nvSpPr>
        <p:spPr>
          <a:xfrm>
            <a:off x="2743200" y="2057400"/>
            <a:ext cx="1554120" cy="1005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EXTRACT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Connector 7"/>
          <p:cNvCxnSpPr/>
          <p:nvPr/>
        </p:nvCxnSpPr>
        <p:spPr>
          <a:xfrm>
            <a:off x="4297680" y="2560320"/>
            <a:ext cx="54900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134" name="Rounded Rectangle 8"/>
          <p:cNvSpPr/>
          <p:nvPr/>
        </p:nvSpPr>
        <p:spPr>
          <a:xfrm>
            <a:off x="4846320" y="2057400"/>
            <a:ext cx="1554120" cy="1005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391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TRANSFORM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5" name="Connector 9"/>
          <p:cNvCxnSpPr/>
          <p:nvPr/>
        </p:nvCxnSpPr>
        <p:spPr>
          <a:xfrm>
            <a:off x="6400800" y="2560320"/>
            <a:ext cx="54900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136" name="Rounded Rectangle 10"/>
          <p:cNvSpPr/>
          <p:nvPr/>
        </p:nvSpPr>
        <p:spPr>
          <a:xfrm>
            <a:off x="6949440" y="2057400"/>
            <a:ext cx="1554120" cy="1005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daa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REPORT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" name="Connector 11"/>
          <p:cNvCxnSpPr/>
          <p:nvPr/>
        </p:nvCxnSpPr>
        <p:spPr>
          <a:xfrm>
            <a:off x="8503560" y="2560320"/>
            <a:ext cx="549360" cy="360"/>
          </a:xfrm>
          <a:prstGeom prst="straightConnector1">
            <a:avLst/>
          </a:prstGeom>
          <a:ln>
            <a:solidFill>
              <a:srgbClr val="2e6fbb"/>
            </a:solidFill>
            <a:round/>
          </a:ln>
        </p:spPr>
      </p:cxnSp>
      <p:sp>
        <p:nvSpPr>
          <p:cNvPr id="138" name="Rounded Rectangle 12"/>
          <p:cNvSpPr/>
          <p:nvPr/>
        </p:nvSpPr>
        <p:spPr>
          <a:xfrm>
            <a:off x="9052560" y="2057400"/>
            <a:ext cx="1554120" cy="1005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182d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EXPORT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13"/>
          <p:cNvSpPr/>
          <p:nvPr/>
        </p:nvSpPr>
        <p:spPr>
          <a:xfrm>
            <a:off x="3931920" y="4069080"/>
            <a:ext cx="4114440" cy="1005480"/>
          </a:xfrm>
          <a:prstGeom prst="roundRect">
            <a:avLst>
              <a:gd name="adj" fmla="val 16667"/>
            </a:avLst>
          </a:prstGeom>
          <a:solidFill>
            <a:srgbClr val="f9f2f2"/>
          </a:solidFill>
          <a:ln w="19050">
            <a:solidFill>
              <a:srgbClr val="be46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Contrôles • logs • gestion des erreurs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Connector 14"/>
          <p:cNvCxnSpPr/>
          <p:nvPr/>
        </p:nvCxnSpPr>
        <p:spPr>
          <a:xfrm flipV="1">
            <a:off x="5989320" y="3063240"/>
            <a:ext cx="360" cy="1006200"/>
          </a:xfrm>
          <a:prstGeom prst="straightConnector1">
            <a:avLst/>
          </a:prstGeom>
          <a:ln>
            <a:solidFill>
              <a:srgbClr val="be4646"/>
            </a:solidFill>
            <a:round/>
          </a:ln>
        </p:spPr>
      </p:cxnSp>
      <p:sp>
        <p:nvSpPr>
          <p:cNvPr id="141" name="Rectangle 15"/>
          <p:cNvSpPr/>
          <p:nvPr/>
        </p:nvSpPr>
        <p:spPr>
          <a:xfrm>
            <a:off x="502920" y="6510600"/>
            <a:ext cx="11155320" cy="18000"/>
          </a:xfrm>
          <a:prstGeom prst="rect">
            <a:avLst/>
          </a:prstGeom>
          <a:solidFill>
            <a:srgbClr val="dce4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6"/>
          <p:cNvSpPr/>
          <p:nvPr/>
        </p:nvSpPr>
        <p:spPr>
          <a:xfrm>
            <a:off x="10881360" y="655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7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502920" y="29268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82d48"/>
                </a:solidFill>
                <a:effectLst/>
                <a:uFillTx/>
                <a:latin typeface="Calibri"/>
              </a:rPr>
              <a:t>7. Reporting généré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530280" y="868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Livrables produits automatiquement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4"/>
          <p:cNvSpPr/>
          <p:nvPr/>
        </p:nvSpPr>
        <p:spPr>
          <a:xfrm>
            <a:off x="640080" y="164592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RAPPORT CA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5"/>
          <p:cNvSpPr/>
          <p:nvPr/>
        </p:nvSpPr>
        <p:spPr>
          <a:xfrm>
            <a:off x="640080" y="3108960"/>
            <a:ext cx="333720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ce4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rapport_ca.xlsx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777240" y="43434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CA total + CA par produit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7"/>
          <p:cNvSpPr/>
          <p:nvPr/>
        </p:nvSpPr>
        <p:spPr>
          <a:xfrm>
            <a:off x="4434840" y="164592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daa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VINS PREMIUM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8"/>
          <p:cNvSpPr/>
          <p:nvPr/>
        </p:nvSpPr>
        <p:spPr>
          <a:xfrm>
            <a:off x="4434840" y="3108960"/>
            <a:ext cx="333720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ce4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vins_premium.csv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9"/>
          <p:cNvSpPr/>
          <p:nvPr/>
        </p:nvSpPr>
        <p:spPr>
          <a:xfrm>
            <a:off x="4572000" y="43434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Liste répondant aux critères premium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10"/>
          <p:cNvSpPr/>
          <p:nvPr/>
        </p:nvSpPr>
        <p:spPr>
          <a:xfrm>
            <a:off x="8229600" y="164592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391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VINS ORDINAIRES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1"/>
          <p:cNvSpPr/>
          <p:nvPr/>
        </p:nvSpPr>
        <p:spPr>
          <a:xfrm>
            <a:off x="8229600" y="3108960"/>
            <a:ext cx="333720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ce4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vins_ordinaires.csv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2"/>
          <p:cNvSpPr/>
          <p:nvPr/>
        </p:nvSpPr>
        <p:spPr>
          <a:xfrm>
            <a:off x="8366760" y="43434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Liste des autres produits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13"/>
          <p:cNvSpPr/>
          <p:nvPr/>
        </p:nvSpPr>
        <p:spPr>
          <a:xfrm>
            <a:off x="502920" y="6510600"/>
            <a:ext cx="11155320" cy="18000"/>
          </a:xfrm>
          <a:prstGeom prst="rect">
            <a:avLst/>
          </a:prstGeom>
          <a:solidFill>
            <a:srgbClr val="dce4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4"/>
          <p:cNvSpPr/>
          <p:nvPr/>
        </p:nvSpPr>
        <p:spPr>
          <a:xfrm>
            <a:off x="10881360" y="655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8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502920" y="29268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82d48"/>
                </a:solidFill>
                <a:effectLst/>
                <a:uFillTx/>
                <a:latin typeface="Calibri"/>
              </a:rPr>
              <a:t>8. Résultats et indicateurs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3"/>
          <p:cNvSpPr/>
          <p:nvPr/>
        </p:nvSpPr>
        <p:spPr>
          <a:xfrm>
            <a:off x="640080" y="1508760"/>
            <a:ext cx="2468520" cy="11883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825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640080" y="283464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lignes ERP traitées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5"/>
          <p:cNvSpPr/>
          <p:nvPr/>
        </p:nvSpPr>
        <p:spPr>
          <a:xfrm>
            <a:off x="3474720" y="1508760"/>
            <a:ext cx="2468520" cy="11883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391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ETL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3474720" y="283464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pipeline reproductible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7"/>
          <p:cNvSpPr/>
          <p:nvPr/>
        </p:nvSpPr>
        <p:spPr>
          <a:xfrm>
            <a:off x="6309360" y="1508760"/>
            <a:ext cx="2468520" cy="11883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daa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XLSX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6309360" y="283464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rapport commercial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9"/>
          <p:cNvSpPr/>
          <p:nvPr/>
        </p:nvSpPr>
        <p:spPr>
          <a:xfrm>
            <a:off x="9144000" y="1508760"/>
            <a:ext cx="2468520" cy="11883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182d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CSV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0"/>
          <p:cNvSpPr/>
          <p:nvPr/>
        </p:nvSpPr>
        <p:spPr>
          <a:xfrm>
            <a:off x="9144000" y="283464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listes premium / ordinaires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11"/>
          <p:cNvSpPr/>
          <p:nvPr/>
        </p:nvSpPr>
        <p:spPr>
          <a:xfrm>
            <a:off x="1828800" y="4617720"/>
            <a:ext cx="685440" cy="914040"/>
          </a:xfrm>
          <a:prstGeom prst="rect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12"/>
          <p:cNvSpPr/>
          <p:nvPr/>
        </p:nvSpPr>
        <p:spPr>
          <a:xfrm>
            <a:off x="3154680" y="3977640"/>
            <a:ext cx="685440" cy="1554120"/>
          </a:xfrm>
          <a:prstGeom prst="rect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13"/>
          <p:cNvSpPr/>
          <p:nvPr/>
        </p:nvSpPr>
        <p:spPr>
          <a:xfrm>
            <a:off x="4480560" y="4343400"/>
            <a:ext cx="685440" cy="1188360"/>
          </a:xfrm>
          <a:prstGeom prst="rect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ectangle 14"/>
          <p:cNvSpPr/>
          <p:nvPr/>
        </p:nvSpPr>
        <p:spPr>
          <a:xfrm>
            <a:off x="5806440" y="3429000"/>
            <a:ext cx="685440" cy="2102760"/>
          </a:xfrm>
          <a:prstGeom prst="rect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15"/>
          <p:cNvSpPr/>
          <p:nvPr/>
        </p:nvSpPr>
        <p:spPr>
          <a:xfrm>
            <a:off x="7132320" y="3886200"/>
            <a:ext cx="685440" cy="1645560"/>
          </a:xfrm>
          <a:prstGeom prst="rect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16"/>
          <p:cNvSpPr/>
          <p:nvPr/>
        </p:nvSpPr>
        <p:spPr>
          <a:xfrm>
            <a:off x="914400" y="58064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Visualisation illustrative : les valeurs réelles proviennent du rapport généré.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7"/>
          <p:cNvSpPr/>
          <p:nvPr/>
        </p:nvSpPr>
        <p:spPr>
          <a:xfrm>
            <a:off x="502920" y="6510600"/>
            <a:ext cx="11155320" cy="18000"/>
          </a:xfrm>
          <a:prstGeom prst="rect">
            <a:avLst/>
          </a:prstGeom>
          <a:solidFill>
            <a:srgbClr val="dce4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18"/>
          <p:cNvSpPr/>
          <p:nvPr/>
        </p:nvSpPr>
        <p:spPr>
          <a:xfrm>
            <a:off x="10881360" y="655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9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502920" y="29268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82d48"/>
                </a:solidFill>
                <a:effectLst/>
                <a:uFillTx/>
                <a:latin typeface="Calibri"/>
              </a:rPr>
              <a:t>9. Qualité, reproductibilité et industrialisation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3"/>
          <p:cNvSpPr/>
          <p:nvPr/>
        </p:nvSpPr>
        <p:spPr>
          <a:xfrm>
            <a:off x="685800" y="1325880"/>
            <a:ext cx="150840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Docker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2423160" y="139896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Environnement reproductible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5"/>
          <p:cNvSpPr/>
          <p:nvPr/>
        </p:nvSpPr>
        <p:spPr>
          <a:xfrm>
            <a:off x="6309360" y="1325880"/>
            <a:ext cx="150840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391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Python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6"/>
          <p:cNvSpPr/>
          <p:nvPr/>
        </p:nvSpPr>
        <p:spPr>
          <a:xfrm>
            <a:off x="8046720" y="139896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Responsabilités séparées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7"/>
          <p:cNvSpPr/>
          <p:nvPr/>
        </p:nvSpPr>
        <p:spPr>
          <a:xfrm>
            <a:off x="685800" y="2834640"/>
            <a:ext cx="150840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daa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Kestra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2423160" y="290772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Orchestration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9"/>
          <p:cNvSpPr/>
          <p:nvPr/>
        </p:nvSpPr>
        <p:spPr>
          <a:xfrm>
            <a:off x="6309360" y="2834640"/>
            <a:ext cx="150840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182d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Contrôles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8046720" y="290772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Validation des données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1"/>
          <p:cNvSpPr/>
          <p:nvPr/>
        </p:nvSpPr>
        <p:spPr>
          <a:xfrm>
            <a:off x="685800" y="4343400"/>
            <a:ext cx="150840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README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2"/>
          <p:cNvSpPr/>
          <p:nvPr/>
        </p:nvSpPr>
        <p:spPr>
          <a:xfrm>
            <a:off x="2423160" y="441648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Documentation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13"/>
          <p:cNvSpPr/>
          <p:nvPr/>
        </p:nvSpPr>
        <p:spPr>
          <a:xfrm>
            <a:off x="6309360" y="4343400"/>
            <a:ext cx="1508400" cy="9140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 w="19050">
            <a:solidFill>
              <a:srgbClr val="2391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GitHub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4"/>
          <p:cNvSpPr/>
          <p:nvPr/>
        </p:nvSpPr>
        <p:spPr>
          <a:xfrm>
            <a:off x="8046720" y="441648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Versionnement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15"/>
          <p:cNvSpPr/>
          <p:nvPr/>
        </p:nvSpPr>
        <p:spPr>
          <a:xfrm>
            <a:off x="502920" y="6510600"/>
            <a:ext cx="11155320" cy="18000"/>
          </a:xfrm>
          <a:prstGeom prst="rect">
            <a:avLst/>
          </a:prstGeom>
          <a:solidFill>
            <a:srgbClr val="dce4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6"/>
          <p:cNvSpPr/>
          <p:nvPr/>
        </p:nvSpPr>
        <p:spPr>
          <a:xfrm>
            <a:off x="10881360" y="655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10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502920" y="29268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82d48"/>
                </a:solidFill>
                <a:effectLst/>
                <a:uFillTx/>
                <a:latin typeface="Calibri"/>
              </a:rPr>
              <a:t>10. Démonstration de bout en bout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Oval 3"/>
          <p:cNvSpPr/>
          <p:nvPr/>
        </p:nvSpPr>
        <p:spPr>
          <a:xfrm>
            <a:off x="822960" y="1234440"/>
            <a:ext cx="502560" cy="502560"/>
          </a:xfrm>
          <a:prstGeom prst="ellipse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1600200" y="12160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Construire / lancer Docker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Oval 5"/>
          <p:cNvSpPr/>
          <p:nvPr/>
        </p:nvSpPr>
        <p:spPr>
          <a:xfrm>
            <a:off x="822960" y="1984320"/>
            <a:ext cx="502560" cy="502560"/>
          </a:xfrm>
          <a:prstGeom prst="ellipse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6"/>
          <p:cNvSpPr/>
          <p:nvPr/>
        </p:nvSpPr>
        <p:spPr>
          <a:xfrm>
            <a:off x="1600200" y="19659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Exécuter l’extraction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Oval 7"/>
          <p:cNvSpPr/>
          <p:nvPr/>
        </p:nvSpPr>
        <p:spPr>
          <a:xfrm>
            <a:off x="822960" y="2734200"/>
            <a:ext cx="502560" cy="502560"/>
          </a:xfrm>
          <a:prstGeom prst="ellipse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8"/>
          <p:cNvSpPr/>
          <p:nvPr/>
        </p:nvSpPr>
        <p:spPr>
          <a:xfrm>
            <a:off x="1600200" y="27158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Exécuter la transformation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Oval 9"/>
          <p:cNvSpPr/>
          <p:nvPr/>
        </p:nvSpPr>
        <p:spPr>
          <a:xfrm>
            <a:off x="822960" y="3483720"/>
            <a:ext cx="502560" cy="502560"/>
          </a:xfrm>
          <a:prstGeom prst="ellipse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0"/>
          <p:cNvSpPr/>
          <p:nvPr/>
        </p:nvSpPr>
        <p:spPr>
          <a:xfrm>
            <a:off x="1600200" y="34657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Lancer le workflow Kestra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Oval 11"/>
          <p:cNvSpPr/>
          <p:nvPr/>
        </p:nvSpPr>
        <p:spPr>
          <a:xfrm>
            <a:off x="822960" y="4233600"/>
            <a:ext cx="502560" cy="502560"/>
          </a:xfrm>
          <a:prstGeom prst="ellipse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1600200" y="4215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Contrôler XLSX et CSV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Oval 13"/>
          <p:cNvSpPr/>
          <p:nvPr/>
        </p:nvSpPr>
        <p:spPr>
          <a:xfrm>
            <a:off x="822960" y="4983480"/>
            <a:ext cx="502560" cy="502560"/>
          </a:xfrm>
          <a:prstGeom prst="ellipse">
            <a:avLst/>
          </a:prstGeom>
          <a:solidFill>
            <a:srgbClr val="2e6f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4"/>
          <p:cNvSpPr/>
          <p:nvPr/>
        </p:nvSpPr>
        <p:spPr>
          <a:xfrm>
            <a:off x="1600200" y="49651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Présenter les résultats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15"/>
          <p:cNvSpPr/>
          <p:nvPr/>
        </p:nvSpPr>
        <p:spPr>
          <a:xfrm>
            <a:off x="502920" y="6510600"/>
            <a:ext cx="11155320" cy="18000"/>
          </a:xfrm>
          <a:prstGeom prst="rect">
            <a:avLst/>
          </a:prstGeom>
          <a:solidFill>
            <a:srgbClr val="dce4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16"/>
          <p:cNvSpPr/>
          <p:nvPr/>
        </p:nvSpPr>
        <p:spPr>
          <a:xfrm>
            <a:off x="10881360" y="65563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11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8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2"/>
          <p:cNvSpPr/>
          <p:nvPr/>
        </p:nvSpPr>
        <p:spPr>
          <a:xfrm>
            <a:off x="822960" y="77724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100" strike="noStrike" u="none">
                <a:solidFill>
                  <a:srgbClr val="daa63d"/>
                </a:solidFill>
                <a:effectLst/>
                <a:uFillTx/>
                <a:latin typeface="Calibri"/>
              </a:rPr>
              <a:t>CONCLUSION</a:t>
            </a:r>
            <a:endParaRPr b="0" lang="fr-FR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3"/>
          <p:cNvSpPr/>
          <p:nvPr/>
        </p:nvSpPr>
        <p:spPr>
          <a:xfrm>
            <a:off x="914400" y="1828800"/>
            <a:ext cx="2925720" cy="1234080"/>
          </a:xfrm>
          <a:prstGeom prst="roundRect">
            <a:avLst>
              <a:gd name="adj" fmla="val 16667"/>
            </a:avLst>
          </a:prstGeom>
          <a:solidFill>
            <a:srgbClr val="233c58"/>
          </a:solidFill>
          <a:ln w="19050">
            <a:solidFill>
              <a:srgbClr val="2e6f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DONNÉES</a:t>
            </a:r>
            <a:br>
              <a:rPr sz="1800"/>
            </a:br>
            <a:r>
              <a:rPr b="1" lang="en-US" sz="18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fiabilisées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4"/>
          <p:cNvSpPr/>
          <p:nvPr/>
        </p:nvSpPr>
        <p:spPr>
          <a:xfrm>
            <a:off x="4617720" y="1828800"/>
            <a:ext cx="2925720" cy="1234080"/>
          </a:xfrm>
          <a:prstGeom prst="roundRect">
            <a:avLst>
              <a:gd name="adj" fmla="val 16667"/>
            </a:avLst>
          </a:prstGeom>
          <a:solidFill>
            <a:srgbClr val="233c58"/>
          </a:solidFill>
          <a:ln w="19050">
            <a:solidFill>
              <a:srgbClr val="2391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PIPELINE</a:t>
            </a:r>
            <a:br>
              <a:rPr sz="1800"/>
            </a:br>
            <a:r>
              <a:rPr b="1" lang="en-US" sz="18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reproductible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5"/>
          <p:cNvSpPr/>
          <p:nvPr/>
        </p:nvSpPr>
        <p:spPr>
          <a:xfrm>
            <a:off x="8321040" y="1828800"/>
            <a:ext cx="2925720" cy="1234080"/>
          </a:xfrm>
          <a:prstGeom prst="roundRect">
            <a:avLst>
              <a:gd name="adj" fmla="val 16667"/>
            </a:avLst>
          </a:prstGeom>
          <a:solidFill>
            <a:srgbClr val="233c58"/>
          </a:solidFill>
          <a:ln w="19050">
            <a:solidFill>
              <a:srgbClr val="daa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REPORTING</a:t>
            </a:r>
            <a:br>
              <a:rPr sz="1800"/>
            </a:br>
            <a:r>
              <a:rPr b="1" lang="en-US" sz="1800" strike="noStrike" u="none">
                <a:solidFill>
                  <a:srgbClr val="2d3741"/>
                </a:solidFill>
                <a:effectLst/>
                <a:uFillTx/>
                <a:latin typeface="Calibri"/>
              </a:rPr>
              <a:t>automatisé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2" name="Connector 6"/>
          <p:cNvCxnSpPr/>
          <p:nvPr/>
        </p:nvCxnSpPr>
        <p:spPr>
          <a:xfrm>
            <a:off x="3840480" y="2441160"/>
            <a:ext cx="777600" cy="360"/>
          </a:xfrm>
          <a:prstGeom prst="straightConnector1">
            <a:avLst/>
          </a:prstGeom>
          <a:ln>
            <a:solidFill>
              <a:srgbClr val="ffffff"/>
            </a:solidFill>
            <a:round/>
          </a:ln>
        </p:spPr>
      </p:cxnSp>
      <p:cxnSp>
        <p:nvCxnSpPr>
          <p:cNvPr id="213" name="Connector 7"/>
          <p:cNvCxnSpPr/>
          <p:nvPr/>
        </p:nvCxnSpPr>
        <p:spPr>
          <a:xfrm>
            <a:off x="7543800" y="2441160"/>
            <a:ext cx="777600" cy="360"/>
          </a:xfrm>
          <a:prstGeom prst="straightConnector1">
            <a:avLst/>
          </a:prstGeom>
          <a:ln>
            <a:solidFill>
              <a:srgbClr val="ffffff"/>
            </a:solidFill>
            <a:round/>
          </a:ln>
        </p:spPr>
      </p:cxnSp>
      <p:sp>
        <p:nvSpPr>
          <p:cNvPr id="214" name="TextBox 8"/>
          <p:cNvSpPr/>
          <p:nvPr/>
        </p:nvSpPr>
        <p:spPr>
          <a:xfrm>
            <a:off x="1097280" y="3886200"/>
            <a:ext cx="9966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Une chaîne Data Engineering complète, de la donnée source aux livrables métier.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cddceb"/>
                </a:solidFill>
                <a:effectLst/>
                <a:uFillTx/>
                <a:latin typeface="Calibri"/>
              </a:rPr>
              <a:t>Python • Docker • Kestra • Reporting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 txBox="1"/>
          <p:nvPr/>
        </p:nvSpPr>
        <p:spPr>
          <a:xfrm>
            <a:off x="540000" y="1080000"/>
            <a:ext cx="6310080" cy="467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Backlog structuré en 10 phases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Tâches et sous-tâches datées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Kanban mis à jour selon l'avancement réel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Suivi des statuts et des dépendances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Traçabilité entre tâches → développement → livrables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Documentation et soutenance intégrées au planning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540000"/>
            <a:ext cx="1097208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Pilotage du projet — OpenProject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spcBef>
                <a:spcPts val="1701"/>
              </a:spcBef>
              <a:spcAft>
                <a:spcPts val="992"/>
              </a:spcAft>
              <a:buNone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«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Mon logigramme ne représente pas seulement le flux de données ;</a:t>
            </a:r>
            <a:br>
              <a:rPr sz="2000"/>
            </a:b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Il représente le processus complet, avec les tâches, les contrôles et les tests qui permettent de </a:t>
            </a:r>
            <a:r>
              <a:rPr b="1" lang="en-US" sz="10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valider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chaque étape.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»  ( Voir schema 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2520000" y="1800000"/>
            <a:ext cx="7740000" cy="386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2026-09-25T14:24:09Z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