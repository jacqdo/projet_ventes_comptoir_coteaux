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AA63D"/>
                </a:solidFill>
              </a:defRPr>
            </a:pPr>
            <a:r>
              <a:t>PROJET DATA ENGINEERING</a:t>
            </a:r>
          </a:p>
          <a:p>
            <a:pPr>
              <a:defRPr sz="4300" b="1">
                <a:solidFill>
                  <a:srgbClr val="FFFFFF"/>
                </a:solidFill>
              </a:defRPr>
            </a:pPr>
            <a:r>
              <a:t>Ventes Coteaux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Automatisation du pipeline ETL et du reporting mensuel</a:t>
            </a:r>
          </a:p>
          <a:p>
            <a:pPr>
              <a:defRPr sz="1700">
                <a:solidFill>
                  <a:srgbClr val="CDDCEB"/>
                </a:solidFill>
              </a:defRPr>
            </a:pPr>
            <a:r>
              <a:t>Python • Docker • Kestra • Excel /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Soutenance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1. Contexte et 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</a:defRPr>
            </a:pPr>
            <a:r>
              <a:t>Centraliser et fiabiliser les données nécessaires au suivi des ventes.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</a:defRPr>
            </a:pPr>
            <a:r>
              <a:t>Construire une chaîne ETL reproductible : extraction → transformation → reporting.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</a:defRPr>
            </a:pPr>
            <a:r>
              <a:t>Automatiser l’exécution avec Kestra afin de limiter les traitements manuels.</a:t>
            </a:r>
          </a:p>
          <a:p>
            <a:pPr>
              <a:spcAft>
                <a:spcPts val="1100"/>
              </a:spcAft>
              <a:defRPr sz="1900">
                <a:solidFill>
                  <a:srgbClr val="2D3741"/>
                </a:solidFill>
              </a:defRPr>
            </a:pPr>
            <a:r>
              <a:t>Produire des livrables exploitables : rapport de chiffre d’affaires et listes de vins.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4754880"/>
            <a:ext cx="2834640" cy="914400"/>
          </a:xfrm>
          <a:prstGeom prst="roundRect">
            <a:avLst/>
          </a:prstGeom>
          <a:solidFill>
            <a:srgbClr val="E8F2FC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OBJECTIF</a:t>
            </a:r>
            <a:br/>
            <a:r>
              <a:t>Reporting automatisé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2. Architecture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Une chaîne simple, reproductible et orchestrée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05740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SOURCES</a:t>
            </a:r>
            <a:br/>
            <a:r>
              <a:t>ERP / Liaison /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965960"/>
            <a:ext cx="205740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EXTRACTION</a:t>
            </a:r>
            <a:br/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965960"/>
            <a:ext cx="205740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TRANSFORMATION</a:t>
            </a:r>
            <a:br/>
            <a:r>
              <a:t>Python / 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965960"/>
            <a:ext cx="205740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REPORTING</a:t>
            </a:r>
            <a:br/>
            <a:r>
              <a:t>XLSX / CSV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542032"/>
            <a:ext cx="365760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74920" y="2542032"/>
            <a:ext cx="365760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98079" y="2542032"/>
            <a:ext cx="365761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3886200"/>
            <a:ext cx="3017520" cy="1051560"/>
          </a:xfrm>
          <a:prstGeom prst="roundRect">
            <a:avLst/>
          </a:prstGeom>
          <a:solidFill>
            <a:srgbClr val="EEF4F9"/>
          </a:solidFill>
          <a:ln w="1905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ORCHESTRATION</a:t>
            </a:r>
            <a:br/>
            <a:r>
              <a:t>Kestra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669280" y="3108960"/>
            <a:ext cx="0" cy="777240"/>
          </a:xfrm>
          <a:prstGeom prst="line">
            <a:avLst/>
          </a:prstGeom>
          <a:ln w="25400">
            <a:solidFill>
              <a:srgbClr val="182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3. Flux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De la donnée brute au livrable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572768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01</a:t>
            </a:r>
            <a:br/>
            <a:r>
              <a:t>EXTRACT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75688" y="2468880"/>
            <a:ext cx="329184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04872" y="1920240"/>
            <a:ext cx="1572768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02</a:t>
            </a:r>
            <a:br/>
            <a:r>
              <a:t>CLEAN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468880"/>
            <a:ext cx="329185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06824" y="1920240"/>
            <a:ext cx="1572768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03</a:t>
            </a:r>
            <a:br/>
            <a:r>
              <a:t>JOIN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9592" y="2468880"/>
            <a:ext cx="329184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8776" y="1920240"/>
            <a:ext cx="1572768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04</a:t>
            </a:r>
            <a:br/>
            <a:r>
              <a:t>CALCUL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81544" y="2468880"/>
            <a:ext cx="329184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10728" y="1920240"/>
            <a:ext cx="1572768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05</a:t>
            </a:r>
            <a:br/>
            <a:r>
              <a:t>CLASSIFY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83496" y="2468880"/>
            <a:ext cx="329184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12680" y="1920240"/>
            <a:ext cx="1572768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06</a:t>
            </a:r>
            <a:br/>
            <a:r>
              <a:t>EXPORT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4. Données et modélisation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834640" cy="1188720"/>
          </a:xfrm>
          <a:prstGeom prst="roundRect">
            <a:avLst/>
          </a:prstGeom>
          <a:solidFill>
            <a:srgbClr val="EBF3FB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ERP</a:t>
            </a:r>
            <a:br/>
            <a:r>
              <a:t>Produits • prix • stock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2834640" cy="1188720"/>
          </a:xfrm>
          <a:prstGeom prst="roundRect">
            <a:avLst/>
          </a:prstGeom>
          <a:solidFill>
            <a:srgbClr val="EBF7F3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LIAISON</a:t>
            </a:r>
            <a:br/>
            <a:r>
              <a:t>Correspondances produit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468880"/>
            <a:ext cx="2834640" cy="1188720"/>
          </a:xfrm>
          <a:prstGeom prst="roundRect">
            <a:avLst/>
          </a:prstGeom>
          <a:solidFill>
            <a:srgbClr val="F9F3E4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TABLE DE TRAVAIL</a:t>
            </a:r>
            <a:br/>
            <a:r>
              <a:t>DataFrame nettoyé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600200"/>
            <a:ext cx="2743200" cy="1188720"/>
          </a:xfrm>
          <a:prstGeom prst="roundRect">
            <a:avLst/>
          </a:prstGeom>
          <a:solidFill>
            <a:srgbClr val="F2EDF9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REPORTING</a:t>
            </a:r>
            <a:br/>
            <a:r>
              <a:t>CA par produit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3703320"/>
            <a:ext cx="2743200" cy="1188720"/>
          </a:xfrm>
          <a:prstGeom prst="roundRect">
            <a:avLst/>
          </a:prstGeom>
          <a:solidFill>
            <a:srgbClr val="F2F7F1"/>
          </a:solidFill>
          <a:ln w="19050">
            <a:solidFill>
              <a:srgbClr val="3D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2D3741"/>
                </a:solidFill>
              </a:defRPr>
            </a:pPr>
            <a:r>
              <a:t>CLASSIFICATION</a:t>
            </a:r>
            <a:br/>
            <a:r>
              <a:t>Premium / ordinaire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2194560"/>
            <a:ext cx="1143000" cy="68580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474720" y="3246120"/>
            <a:ext cx="1143000" cy="105156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52360" y="2194560"/>
            <a:ext cx="1051560" cy="68580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3246120"/>
            <a:ext cx="1051560" cy="105156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5. Transformation et règles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Lecture des fichiers sources et contrôle de la structure des colonnes.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Nettoyage et normalisation des valeurs et des identifiants.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Rapprochement des produits entre les différentes sources.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Calcul des indicateurs commerciaux : prix, quantité et chiffre d’affaires.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Classification des vins selon les critères métier définis.</a:t>
            </a:r>
          </a:p>
          <a:p>
            <a:pPr>
              <a:spcAft>
                <a:spcPts val="1100"/>
              </a:spcAft>
              <a:defRPr sz="1700">
                <a:solidFill>
                  <a:srgbClr val="2D3741"/>
                </a:solidFill>
              </a:defRPr>
            </a:pPr>
            <a:r>
              <a:t>Export de données propres pour le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6. Orchestration avec Kestra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Workflow automatisé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155448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START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560320"/>
            <a:ext cx="548640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057400"/>
            <a:ext cx="155448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EXTRACT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0" y="2560320"/>
            <a:ext cx="548640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2057400"/>
            <a:ext cx="155448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TRANSFORM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2560320"/>
            <a:ext cx="548640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2057400"/>
            <a:ext cx="155448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REPORT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19" y="2560320"/>
            <a:ext cx="548641" cy="0"/>
          </a:xfrm>
          <a:prstGeom prst="line">
            <a:avLst/>
          </a:prstGeom>
          <a:ln w="25400">
            <a:solidFill>
              <a:srgbClr val="2E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057400"/>
            <a:ext cx="1554480" cy="10058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EXPORT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4069080"/>
            <a:ext cx="4114800" cy="1005840"/>
          </a:xfrm>
          <a:prstGeom prst="roundRect">
            <a:avLst/>
          </a:prstGeom>
          <a:solidFill>
            <a:srgbClr val="F9F2F2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Contrôles • logs • gestion des erreurs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989320" y="3063240"/>
            <a:ext cx="0" cy="1005840"/>
          </a:xfrm>
          <a:prstGeom prst="line">
            <a:avLst/>
          </a:prstGeom>
          <a:ln w="25400">
            <a:solidFill>
              <a:srgbClr val="BE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7. Reporting généré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1"/>
                </a:solidFill>
              </a:defRPr>
            </a:pPr>
            <a:r>
              <a:t>Livrables produits automatiquement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3756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D3741"/>
                </a:solidFill>
              </a:defRPr>
            </a:pPr>
            <a:r>
              <a:t>RAPPORT 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3375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rapport_ca.xlsx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D3741"/>
                </a:solidFill>
              </a:defRPr>
            </a:pPr>
            <a:r>
              <a:t>CA total + CA par produit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D3741"/>
                </a:solidFill>
              </a:defRPr>
            </a:pPr>
            <a:r>
              <a:t>VINS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108960"/>
            <a:ext cx="33375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vins_premium.csv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34340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D3741"/>
                </a:solidFill>
              </a:defRPr>
            </a:pPr>
            <a:r>
              <a:t>Liste répondant aux critères premium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45920"/>
            <a:ext cx="3337560" cy="1143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2D3741"/>
                </a:solidFill>
              </a:defRPr>
            </a:pPr>
            <a:r>
              <a:t>VINS ORDINAIRES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08960"/>
            <a:ext cx="33375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vins_ordinaires.csv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343400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D3741"/>
                </a:solidFill>
              </a:defRPr>
            </a:pPr>
            <a:r>
              <a:t>Liste des autres produits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8. Résultats et indicateurs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46888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2D3741"/>
                </a:solidFill>
              </a:defRPr>
            </a:pPr>
            <a:r>
              <a:t>825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1"/>
                </a:solidFill>
              </a:defRPr>
            </a:pPr>
            <a:r>
              <a:t>lignes ERP traitées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08760"/>
            <a:ext cx="246888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2D3741"/>
                </a:solidFill>
              </a:defRPr>
            </a:pPr>
            <a:r>
              <a:t>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346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1"/>
                </a:solidFill>
              </a:defRPr>
            </a:pPr>
            <a:r>
              <a:t>pipeline reproductible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246888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2D3741"/>
                </a:solidFill>
              </a:defRPr>
            </a:pPr>
            <a:r>
              <a:t>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1"/>
                </a:solidFill>
              </a:defRPr>
            </a:pPr>
            <a:r>
              <a:t>rapport commercial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08760"/>
            <a:ext cx="2468880" cy="11887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2D3741"/>
                </a:solidFill>
              </a:defRPr>
            </a:pPr>
            <a:r>
              <a:t>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8346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741"/>
                </a:solidFill>
              </a:defRPr>
            </a:pPr>
            <a:r>
              <a:t>listes premium / ordinaires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617720"/>
            <a:ext cx="685800" cy="914400"/>
          </a:xfrm>
          <a:prstGeom prst="rect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3977639"/>
            <a:ext cx="685800" cy="1554480"/>
          </a:xfrm>
          <a:prstGeom prst="rect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4343400"/>
            <a:ext cx="685800" cy="1188720"/>
          </a:xfrm>
          <a:prstGeom prst="rect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3429000"/>
            <a:ext cx="685800" cy="2103120"/>
          </a:xfrm>
          <a:prstGeom prst="rect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3886200"/>
            <a:ext cx="685800" cy="1645920"/>
          </a:xfrm>
          <a:prstGeom prst="rect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D3741"/>
                </a:solidFill>
              </a:defRPr>
            </a:pPr>
            <a:r>
              <a:t>Visualisation illustrative : les valeurs réelles proviennent du rapport généré.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9. Qualité, reproductibilité et industrialisation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5087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399032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t>Environnement reproductible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15087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99032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t>Responsabilités séparées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39"/>
            <a:ext cx="15087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Kestra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07791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t>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34639"/>
            <a:ext cx="15087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8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Contrôles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907791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t>Validation des 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43400"/>
            <a:ext cx="15087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README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416552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t>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343400"/>
            <a:ext cx="150876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2D3741"/>
                </a:solidFill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416552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1"/>
                </a:solidFill>
              </a:defRPr>
            </a:pPr>
            <a:r>
              <a:t>Versionnement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8"/>
                </a:solidFill>
              </a:defRPr>
            </a:pPr>
            <a:r>
              <a:t>10. Démonstration de bout en bout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234440"/>
            <a:ext cx="502920" cy="502920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21615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741"/>
                </a:solidFill>
              </a:defRPr>
            </a:pPr>
            <a:r>
              <a:t>Construire / lancer Docker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984248"/>
            <a:ext cx="502920" cy="502920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741"/>
                </a:solidFill>
              </a:defRPr>
            </a:pPr>
            <a:r>
              <a:t>Exécuter l’extraction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34056"/>
            <a:ext cx="502920" cy="502920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1576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741"/>
                </a:solidFill>
              </a:defRPr>
            </a:pPr>
            <a:r>
              <a:t>Exécuter la transformation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83864"/>
            <a:ext cx="502920" cy="502920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465576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741"/>
                </a:solidFill>
              </a:defRPr>
            </a:pPr>
            <a:r>
              <a:t>Lancer le workflow Kestra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33672"/>
            <a:ext cx="502920" cy="502920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15384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741"/>
                </a:solidFill>
              </a:defRPr>
            </a:pPr>
            <a:r>
              <a:t>Contrôler XLSX et CSV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83479"/>
            <a:ext cx="502920" cy="502920"/>
          </a:xfrm>
          <a:prstGeom prst="ellipse">
            <a:avLst/>
          </a:prstGeom>
          <a:solidFill>
            <a:srgbClr val="2E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9651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741"/>
                </a:solidFill>
              </a:defRPr>
            </a:pPr>
            <a:r>
              <a:t>Présenter les résultats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55624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D3741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DAA63D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1234440"/>
          </a:xfrm>
          <a:prstGeom prst="roundRect">
            <a:avLst/>
          </a:prstGeom>
          <a:solidFill>
            <a:srgbClr val="233C58"/>
          </a:solidFill>
          <a:ln w="19050">
            <a:solidFill>
              <a:srgbClr val="2E6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DONNÉES</a:t>
            </a:r>
            <a:br/>
            <a:r>
              <a:t>fiabilisées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828800"/>
            <a:ext cx="2926080" cy="1234440"/>
          </a:xfrm>
          <a:prstGeom prst="roundRect">
            <a:avLst/>
          </a:prstGeom>
          <a:solidFill>
            <a:srgbClr val="233C58"/>
          </a:solidFill>
          <a:ln w="19050">
            <a:solidFill>
              <a:srgbClr val="23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PIPELINE</a:t>
            </a:r>
            <a:br/>
            <a:r>
              <a:t>reproductible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828800"/>
            <a:ext cx="2926080" cy="1234440"/>
          </a:xfrm>
          <a:prstGeom prst="roundRect">
            <a:avLst/>
          </a:prstGeom>
          <a:solidFill>
            <a:srgbClr val="233C58"/>
          </a:solidFill>
          <a:ln w="19050">
            <a:solidFill>
              <a:srgbClr val="DAA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>
                <a:solidFill>
                  <a:srgbClr val="2D3741"/>
                </a:solidFill>
              </a:defRPr>
            </a:pPr>
            <a:r>
              <a:t>REPORTING</a:t>
            </a:r>
            <a:br/>
            <a:r>
              <a:t>automatisé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40480" y="2441448"/>
            <a:ext cx="7772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43800" y="2441448"/>
            <a:ext cx="77724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388620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</a:defRPr>
            </a:pPr>
            <a:r>
              <a:t>Une chaîne Data Engineering complète, de la donnée source aux livrables métier.</a:t>
            </a:r>
          </a:p>
          <a:p>
            <a:pPr algn="ctr">
              <a:defRPr sz="1600">
                <a:solidFill>
                  <a:srgbClr val="CDDCEB"/>
                </a:solidFill>
              </a:defRPr>
            </a:pPr>
            <a:r>
              <a:t>Python • Docker • Kestra • 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